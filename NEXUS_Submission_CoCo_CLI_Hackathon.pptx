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anrope SemiBold"/>
      <p:regular r:id="rId12"/>
      <p:bold r:id="rId13"/>
    </p:embeddedFont>
    <p:embeddedFont>
      <p:font typeface="Manrope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ManropeSemiBold-regular.fntdata"/><Relationship Id="rId13" Type="http://schemas.openxmlformats.org/officeDocument/2006/relationships/font" Target="fonts/ManropeSemiBold-bold.fntdata"/><Relationship Id="rId14" Type="http://schemas.openxmlformats.org/officeDocument/2006/relationships/font" Target="fonts/Manrope-regular.fntdata"/><Relationship Id="rId15" Type="http://schemas.openxmlformats.org/officeDocument/2006/relationships/font" Target="fonts/Manrope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xexexe 23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02808" y="3192600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  Cortex Forge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02788" y="42501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  Supply Chain Disruption — Real-time Governed AI for $184B Decision-lag Problem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02798" y="3534656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  Harsha HG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02788" y="39072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Size :  1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329100" y="600420"/>
            <a:ext cx="8485800" cy="42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55000"/>
              <a:buFont typeface="Arial"/>
              <a:buNone/>
            </a:pPr>
            <a: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Submission Guidelines:</a:t>
            </a:r>
            <a:b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b="1" i="1" lang="en-GB" sz="1442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(Things to add on the submission deck)</a:t>
            </a:r>
            <a:endParaRPr b="1" i="1" sz="1442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55000"/>
              <a:buFont typeface="Arial"/>
              <a:buNone/>
            </a:pPr>
            <a: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1. Problem Brief</a:t>
            </a:r>
            <a:endParaRPr b="1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What real business problem does this solve?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Who is the target user/persona?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What is the current pain point and how does this improve it?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Industry/domain context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55000"/>
              <a:buFont typeface="Arial"/>
              <a:buNone/>
            </a:pPr>
            <a: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2. Architecture Diagram</a:t>
            </a:r>
            <a:endParaRPr b="1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System design showing data flow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Which CoCo CLI skills are used and how they connect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Data sources (structured/unstructured)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How modular components plug together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3. Impact Statement</a:t>
            </a:r>
            <a:endParaRPr b="1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Measurable outcomes (time saved, accuracy improvement, etc.)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Scalability potential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How this extends beyond the demo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TextBox 69"/>
          <p:cNvSpPr txBox="1"/>
          <p:nvPr/>
        </p:nvSpPr>
        <p:spPr>
          <a:xfrm>
            <a:off x="317500" y="228600"/>
            <a:ext cx="850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5CD"/>
                </a:solidFill>
              </a:rPr>
              <a:t>01  PROBLEM BRIEF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7500" y="698500"/>
            <a:ext cx="4191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● What real business problem does this solve?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17500" y="977900"/>
            <a:ext cx="4191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DEE"/>
                </a:solidFill>
              </a:rPr>
              <a:t>Global manufacturers lose $184B/year to supply chain disruptions.</a:t>
            </a:r>
          </a:p>
          <a:p>
            <a:pPr algn="l"/>
            <a:r>
              <a:rPr sz="900" b="0">
                <a:solidFill>
                  <a:srgbClr val="CCDDEE"/>
                </a:solidFill>
              </a:rPr>
              <a:t>The real damage is decision lag: ERP exports, cross-team emails</a:t>
            </a:r>
          </a:p>
          <a:p>
            <a:pPr algn="l"/>
            <a:r>
              <a:rPr sz="900" b="0">
                <a:solidFill>
                  <a:srgbClr val="CCDDEE"/>
                </a:solidFill>
              </a:rPr>
              <a:t>and analyst spreadsheets take days to translate a supplier failure</a:t>
            </a:r>
          </a:p>
          <a:p>
            <a:pPr algn="l"/>
            <a:r>
              <a:rPr sz="900" b="0">
                <a:solidFill>
                  <a:srgbClr val="CCDDEE"/>
                </a:solidFill>
              </a:rPr>
              <a:t>into customer impact. NEXUS delivers that answer in seconds.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17500" y="1778000"/>
            <a:ext cx="4191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17500" y="1905000"/>
            <a:ext cx="4191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● Who is the target user / persona?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17500" y="2184400"/>
            <a:ext cx="4191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DEE"/>
                </a:solidFill>
              </a:rPr>
              <a:t>Supply Chain Ops Managers, Risk Officers, and Procurement Leads</a:t>
            </a:r>
          </a:p>
          <a:p>
            <a:pPr algn="l"/>
            <a:r>
              <a:rPr sz="900" b="0">
                <a:solidFill>
                  <a:srgbClr val="CCDDEE"/>
                </a:solidFill>
              </a:rPr>
              <a:t>at mid-to-large manufacturers with Snowflake-governed data assets.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17500" y="2618740"/>
            <a:ext cx="4191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17500" y="2745740"/>
            <a:ext cx="4191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● Industry / domain context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17500" y="3025140"/>
            <a:ext cx="4191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DEE"/>
                </a:solidFill>
              </a:rPr>
              <a:t>Manufacturing · Automotive · Electronics · Pharma supply chains</a:t>
            </a:r>
          </a:p>
          <a:p>
            <a:pPr algn="l"/>
            <a:r>
              <a:rPr sz="900" b="0">
                <a:solidFill>
                  <a:srgbClr val="CCDDEE"/>
                </a:solidFill>
              </a:rPr>
              <a:t>where multi-tier BOM dependencies create hidden disruption risk.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35500" y="698500"/>
            <a:ext cx="4191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● Current pain point &amp; how NEXUS improves it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635500" y="977900"/>
            <a:ext cx="4191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DEE"/>
                </a:solidFill>
              </a:rPr>
              <a:t>BEFORE NEXUS</a:t>
            </a:r>
          </a:p>
          <a:p>
            <a:pPr algn="l"/>
            <a:r>
              <a:rPr sz="900" b="0">
                <a:solidFill>
                  <a:srgbClr val="CCDDEE"/>
                </a:solidFill>
              </a:rPr>
              <a:t>  • Cross-system blindness — impact data siloed in ERP/WMS/TMS</a:t>
            </a:r>
          </a:p>
          <a:p>
            <a:pPr algn="l"/>
            <a:r>
              <a:rPr sz="900" b="0">
                <a:solidFill>
                  <a:srgbClr val="CCDDEE"/>
                </a:solidFill>
              </a:rPr>
              <a:t>  • Inconsistent metrics — teams compute 'orders at risk' differently</a:t>
            </a:r>
          </a:p>
          <a:p>
            <a:pPr algn="l"/>
            <a:r>
              <a:rPr sz="900" b="0">
                <a:solidFill>
                  <a:srgbClr val="CCDDEE"/>
                </a:solidFill>
              </a:rPr>
              <a:t>  • No path to action — no side-by-side mitigation trade-offs</a:t>
            </a:r>
          </a:p>
          <a:p>
            <a:pPr algn="l"/>
            <a:r>
              <a:rPr sz="900" b="0">
                <a:solidFill>
                  <a:srgbClr val="CCDDEE"/>
                </a:solidFill>
              </a:rPr>
              <a:t/>
            </a:r>
          </a:p>
          <a:p>
            <a:pPr algn="l"/>
            <a:r>
              <a:rPr sz="900" b="0">
                <a:solidFill>
                  <a:srgbClr val="CCDDEE"/>
                </a:solidFill>
              </a:rPr>
              <a:t>WITH NEXUS</a:t>
            </a:r>
          </a:p>
          <a:p>
            <a:pPr algn="l"/>
            <a:r>
              <a:rPr sz="900" b="0">
                <a:solidFill>
                  <a:srgbClr val="CCDDEE"/>
                </a:solidFill>
              </a:rPr>
              <a:t>  • One governed Semantic View connecting 9 entity tables</a:t>
            </a:r>
          </a:p>
          <a:p>
            <a:pPr algn="l"/>
            <a:r>
              <a:rPr sz="900" b="0">
                <a:solidFill>
                  <a:srgbClr val="CCDDEE"/>
                </a:solidFill>
              </a:rPr>
              <a:t>  • Deterministic SQL scenario engine — supplier → customer in ms</a:t>
            </a:r>
          </a:p>
          <a:p>
            <a:pPr algn="l"/>
            <a:r>
              <a:rPr sz="900" b="0">
                <a:solidFill>
                  <a:srgbClr val="CCDDEE"/>
                </a:solidFill>
              </a:rPr>
              <a:t>  • 4 mitigation strategies compared side-by-side with $$ impact</a:t>
            </a:r>
          </a:p>
          <a:p>
            <a:pPr algn="l"/>
            <a:r>
              <a:rPr sz="900" b="0">
                <a:solidFill>
                  <a:srgbClr val="CCDDEE"/>
                </a:solidFill>
              </a:rPr>
              <a:t>  • Cortex Agent answers plain-English questions over governed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TextBox 74"/>
          <p:cNvSpPr txBox="1"/>
          <p:nvPr/>
        </p:nvSpPr>
        <p:spPr>
          <a:xfrm>
            <a:off x="317500" y="228600"/>
            <a:ext cx="850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5CD"/>
                </a:solidFill>
              </a:rPr>
              <a:t>02  ARCHITECTURE &amp; CoCo CLI SKILLS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17500" y="660400"/>
            <a:ext cx="5588000" cy="368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FFFFFF"/>
                </a:solidFill>
              </a:rPr>
              <a:t>  ┌─────────────────────────────────────────────────────────────────┐</a:t>
            </a:r>
          </a:p>
          <a:p>
            <a:pPr algn="l"/>
            <a:r>
              <a:rPr sz="720" b="0">
                <a:solidFill>
                  <a:srgbClr val="FFFFFF"/>
                </a:solidFill>
              </a:rPr>
              <a:t>  │            Streamlit-in-Snowflake  (SiS)                       │</a:t>
            </a:r>
          </a:p>
          <a:p>
            <a:pPr algn="l"/>
            <a:r>
              <a:rPr sz="720" b="0">
                <a:solidFill>
                  <a:srgbClr val="FFFFFF"/>
                </a:solidFill>
              </a:rPr>
              <a:t>  │   KPI Strip · Cascade Chain · Mitigation Table · Ask NEXUS     │</a:t>
            </a:r>
          </a:p>
          <a:p>
            <a:pPr algn="l"/>
            <a:r>
              <a:rPr sz="720" b="0">
                <a:solidFill>
                  <a:srgbClr val="FFFFFF"/>
                </a:solidFill>
              </a:rPr>
              <a:t>  └─────────────────────┬───────────────────────────────────────────┘</a:t>
            </a:r>
          </a:p>
          <a:p>
            <a:pPr algn="l"/>
            <a:r>
              <a:rPr sz="720" b="0">
                <a:solidFill>
                  <a:srgbClr val="FFFFFF"/>
                </a:solidFill>
              </a:rPr>
              <a:t>                        │  Snowpark (RSA key-pair auth)</a:t>
            </a:r>
          </a:p>
          <a:p>
            <a:pPr algn="l"/>
            <a:r>
              <a:rPr sz="720" b="0">
                <a:solidFill>
                  <a:srgbClr val="FFFFFF"/>
                </a:solidFill>
              </a:rPr>
              <a:t>  ┌─────────────────────▼───────────────────────────────────────────┐</a:t>
            </a:r>
          </a:p>
          <a:p>
            <a:pPr algn="l"/>
            <a:r>
              <a:rPr sz="720" b="0">
                <a:solidFill>
                  <a:srgbClr val="FFFFFF"/>
                </a:solidFill>
              </a:rPr>
              <a:t>  │                    NEXUS_DB  (Snowflake)                        │</a:t>
            </a:r>
          </a:p>
          <a:p>
            <a:pPr algn="l"/>
            <a:r>
              <a:rPr sz="720" b="0">
                <a:solidFill>
                  <a:srgbClr val="FFFFFF"/>
                </a:solidFill>
              </a:rPr>
              <a:t>  │  RAW      9 entity tables  (Supplier·Part·Plant·Inventory·…)   │</a:t>
            </a:r>
          </a:p>
          <a:p>
            <a:pPr algn="l"/>
            <a:r>
              <a:rPr sz="720" b="0">
                <a:solidFill>
                  <a:srgbClr val="FFFFFF"/>
                </a:solidFill>
              </a:rPr>
              <a:t>  │  SEMANTIC  NEXUS_SUPPLY_CHAIN Semantic View                     │</a:t>
            </a:r>
          </a:p>
          <a:p>
            <a:pPr algn="l"/>
            <a:r>
              <a:rPr sz="720" b="0">
                <a:solidFill>
                  <a:srgbClr val="FFFFFF"/>
                </a:solidFill>
              </a:rPr>
              <a:t>  │            11 tables · 13 relationships · 14 governed metrics   │</a:t>
            </a:r>
          </a:p>
          <a:p>
            <a:pPr algn="l"/>
            <a:r>
              <a:rPr sz="720" b="0">
                <a:solidFill>
                  <a:srgbClr val="FFFFFF"/>
                </a:solidFill>
              </a:rPr>
              <a:t>  │  SCENARIOS Scenario Engine — pure SQL views                     │</a:t>
            </a:r>
          </a:p>
          <a:p>
            <a:pPr algn="l"/>
            <a:r>
              <a:rPr sz="720" b="0">
                <a:solidFill>
                  <a:srgbClr val="FFFFFF"/>
                </a:solidFill>
              </a:rPr>
              <a:t>  │            Supplier Failure · Port Disruption · Freight Shock   │</a:t>
            </a:r>
          </a:p>
          <a:p>
            <a:pPr algn="l"/>
            <a:r>
              <a:rPr sz="720" b="0">
                <a:solidFill>
                  <a:srgbClr val="FFFFFF"/>
                </a:solidFill>
              </a:rPr>
              <a:t>  │            4 mitigation strategies                              │</a:t>
            </a:r>
          </a:p>
          <a:p>
            <a:pPr algn="l"/>
            <a:r>
              <a:rPr sz="720" b="0">
                <a:solidFill>
                  <a:srgbClr val="FFFFFF"/>
                </a:solidFill>
              </a:rPr>
              <a:t>  │  TOOLS     4 read-only SQL UDFs (Cortex Agent tools)           │</a:t>
            </a:r>
          </a:p>
          <a:p>
            <a:pPr algn="l"/>
            <a:r>
              <a:rPr sz="720" b="0">
                <a:solidFill>
                  <a:srgbClr val="FFFFFF"/>
                </a:solidFill>
              </a:rPr>
              <a:t>  │  PUBLIC    NEXUS_SUPPLY_CHAIN_AGENT  (Cortex Agent)            │</a:t>
            </a:r>
          </a:p>
          <a:p>
            <a:pPr algn="l"/>
            <a:r>
              <a:rPr sz="720" b="0">
                <a:solidFill>
                  <a:srgbClr val="FFFFFF"/>
                </a:solidFill>
              </a:rPr>
              <a:t>  └─────────────────────────────────────────────────────────────────┘</a:t>
            </a:r>
          </a:p>
          <a:p>
            <a:pPr algn="l"/>
            <a:r>
              <a:rPr sz="720" b="0">
                <a:solidFill>
                  <a:srgbClr val="FFFFFF"/>
                </a:solidFill>
              </a:rPr>
              <a:t>  Ontology: Supplier → Part → Plant → Inventory → Product → Order → Customer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57900" y="660400"/>
            <a:ext cx="2794000" cy="43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DDEE"/>
                </a:solidFill>
              </a:rPr>
              <a:t>CoCo CLI SKILLS USED</a:t>
            </a:r>
          </a:p>
          <a:p>
            <a:pPr algn="l"/>
            <a:r>
              <a:rPr sz="800" b="0">
                <a:solidFill>
                  <a:srgbClr val="CCDDEE"/>
                </a:solidFill>
              </a:rPr>
              <a:t/>
            </a:r>
          </a:p>
          <a:p>
            <a:pPr algn="l"/>
            <a:r>
              <a:rPr sz="800" b="0">
                <a:solidFill>
                  <a:srgbClr val="CCDDEE"/>
                </a:solidFill>
              </a:rPr>
              <a:t>snow coco  →  001_schema.sql</a:t>
            </a:r>
          </a:p>
          <a:p>
            <a:pPr algn="l"/>
            <a:r>
              <a:rPr sz="800" b="0">
                <a:solidFill>
                  <a:srgbClr val="CCDDEE"/>
                </a:solidFill>
              </a:rPr>
              <a:t>  Supply chain ontology (7 entities)</a:t>
            </a:r>
          </a:p>
          <a:p>
            <a:pPr algn="l"/>
            <a:r>
              <a:rPr sz="800" b="0">
                <a:solidFill>
                  <a:srgbClr val="CCDDEE"/>
                </a:solidFill>
              </a:rPr>
              <a:t/>
            </a:r>
          </a:p>
          <a:p>
            <a:pPr algn="l"/>
            <a:r>
              <a:rPr sz="800" b="0">
                <a:solidFill>
                  <a:srgbClr val="CCDDEE"/>
                </a:solidFill>
              </a:rPr>
              <a:t>snow coco  →  006_scenario_engine.sql</a:t>
            </a:r>
          </a:p>
          <a:p>
            <a:pPr algn="l"/>
            <a:r>
              <a:rPr sz="800" b="0">
                <a:solidFill>
                  <a:srgbClr val="CCDDEE"/>
                </a:solidFill>
              </a:rPr>
              <a:t>  Cascade propagation SQL views</a:t>
            </a:r>
          </a:p>
          <a:p>
            <a:pPr algn="l"/>
            <a:r>
              <a:rPr sz="800" b="0">
                <a:solidFill>
                  <a:srgbClr val="CCDDEE"/>
                </a:solidFill>
              </a:rPr>
              <a:t/>
            </a:r>
          </a:p>
          <a:p>
            <a:pPr algn="l"/>
            <a:r>
              <a:rPr sz="800" b="0">
                <a:solidFill>
                  <a:srgbClr val="CCDDEE"/>
                </a:solidFill>
              </a:rPr>
              <a:t>snow coco  →  008_mitigation_engine.sql</a:t>
            </a:r>
          </a:p>
          <a:p>
            <a:pPr algn="l"/>
            <a:r>
              <a:rPr sz="800" b="0">
                <a:solidFill>
                  <a:srgbClr val="CCDDEE"/>
                </a:solidFill>
              </a:rPr>
              <a:t>  4 mitigation strategy views</a:t>
            </a:r>
          </a:p>
          <a:p>
            <a:pPr algn="l"/>
            <a:r>
              <a:rPr sz="800" b="0">
                <a:solidFill>
                  <a:srgbClr val="CCDDEE"/>
                </a:solidFill>
              </a:rPr>
              <a:t/>
            </a:r>
          </a:p>
          <a:p>
            <a:pPr algn="l"/>
            <a:r>
              <a:rPr sz="800" b="0">
                <a:solidFill>
                  <a:srgbClr val="CCDDEE"/>
                </a:solidFill>
              </a:rPr>
              <a:t>snow coco  →  013_nexus_semantic_view.sql</a:t>
            </a:r>
          </a:p>
          <a:p>
            <a:pPr algn="l"/>
            <a:r>
              <a:rPr sz="800" b="0">
                <a:solidFill>
                  <a:srgbClr val="CCDDEE"/>
                </a:solidFill>
              </a:rPr>
              <a:t>  Semantic View + AI SQL rules</a:t>
            </a:r>
          </a:p>
          <a:p>
            <a:pPr algn="l"/>
            <a:r>
              <a:rPr sz="800" b="0">
                <a:solidFill>
                  <a:srgbClr val="CCDDEE"/>
                </a:solidFill>
              </a:rPr>
              <a:t/>
            </a:r>
          </a:p>
          <a:p>
            <a:pPr algn="l"/>
            <a:r>
              <a:rPr sz="800" b="0">
                <a:solidFill>
                  <a:srgbClr val="CCDDEE"/>
                </a:solidFill>
              </a:rPr>
              <a:t>snow coco  →  014_nexus_agent.sql</a:t>
            </a:r>
          </a:p>
          <a:p>
            <a:pPr algn="l"/>
            <a:r>
              <a:rPr sz="800" b="0">
                <a:solidFill>
                  <a:srgbClr val="CCDDEE"/>
                </a:solidFill>
              </a:rPr>
              <a:t>  Cortex Agent + 4 UDF tool binding</a:t>
            </a:r>
          </a:p>
          <a:p>
            <a:pPr algn="l"/>
            <a:r>
              <a:rPr sz="800" b="0">
                <a:solidFill>
                  <a:srgbClr val="CCDDEE"/>
                </a:solidFill>
              </a:rPr>
              <a:t/>
            </a:r>
          </a:p>
          <a:p>
            <a:pPr algn="l"/>
            <a:r>
              <a:rPr sz="800" b="0">
                <a:solidFill>
                  <a:srgbClr val="CCDDEE"/>
                </a:solidFill>
              </a:rPr>
              <a:t>snow coco  →  015_extended_tests.sql</a:t>
            </a:r>
          </a:p>
          <a:p>
            <a:pPr algn="l"/>
            <a:r>
              <a:rPr sz="800" b="0">
                <a:solidFill>
                  <a:srgbClr val="CCDDEE"/>
                </a:solidFill>
              </a:rPr>
              <a:t>  33 SQL test assertions</a:t>
            </a:r>
          </a:p>
          <a:p>
            <a:pPr algn="l"/>
            <a:r>
              <a:rPr sz="800" b="0">
                <a:solidFill>
                  <a:srgbClr val="CCDDEE"/>
                </a:solidFill>
              </a:rPr>
              <a:t/>
            </a:r>
          </a:p>
          <a:p>
            <a:pPr algn="l"/>
            <a:r>
              <a:rPr sz="800" b="0">
                <a:solidFill>
                  <a:srgbClr val="CCDDEE"/>
                </a:solidFill>
              </a:rPr>
              <a:t>snow streamlit deploy</a:t>
            </a:r>
          </a:p>
          <a:p>
            <a:pPr algn="l"/>
            <a:r>
              <a:rPr sz="800" b="0">
                <a:solidFill>
                  <a:srgbClr val="CCDDEE"/>
                </a:solidFill>
              </a:rPr>
              <a:t>  SiS dashboard deployment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57900" y="609600"/>
            <a:ext cx="279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C5CD"/>
                </a:solidFill>
              </a:rPr>
              <a:t>CoCo CLI SKILLS USED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/>
        </p:nvSpPr>
        <p:spPr>
          <a:xfrm>
            <a:off x="315900" y="4478850"/>
            <a:ext cx="85122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i="1" lang="en-GB" sz="9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b="0" i="1" sz="600" u="none" cap="none" strike="noStrike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317500" y="228600"/>
            <a:ext cx="850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5CD"/>
                </a:solidFill>
              </a:rPr>
              <a:t>03  IMPACT STATEMENT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17500" y="698500"/>
            <a:ext cx="28575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D700"/>
                </a:solidFill>
              </a:rPr>
              <a:t>⚡  Decision Speed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17500" y="952500"/>
            <a:ext cx="2857500" cy="69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DEE"/>
                </a:solidFill>
              </a:rPr>
              <a:t>Supplier→Customer impact in seconds</a:t>
            </a:r>
          </a:p>
          <a:p>
            <a:pPr algn="l"/>
            <a:r>
              <a:rPr sz="850" b="0">
                <a:solidFill>
                  <a:srgbClr val="CCDDEE"/>
                </a:solidFill>
              </a:rPr>
              <a:t>instead of analyst-days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111500" y="698500"/>
            <a:ext cx="28575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D700"/>
                </a:solidFill>
              </a:rPr>
              <a:t>💰  Revenue Protected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111500" y="952500"/>
            <a:ext cx="2857500" cy="69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DEE"/>
                </a:solidFill>
              </a:rPr>
              <a:t>$2.1M at-risk revenue surfaced under</a:t>
            </a:r>
          </a:p>
          <a:p>
            <a:pPr algn="l"/>
            <a:r>
              <a:rPr sz="850" b="0">
                <a:solidFill>
                  <a:srgbClr val="CCDDEE"/>
                </a:solidFill>
              </a:rPr>
              <a:t>default disruption scenario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05500" y="698500"/>
            <a:ext cx="28575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D700"/>
                </a:solidFill>
              </a:rPr>
              <a:t>🔒  Governance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905500" y="952500"/>
            <a:ext cx="2857500" cy="69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DEE"/>
                </a:solidFill>
              </a:rPr>
              <a:t>1 Semantic View consumed by both</a:t>
            </a:r>
          </a:p>
          <a:p>
            <a:pPr algn="l"/>
            <a:r>
              <a:rPr sz="850" b="0">
                <a:solidFill>
                  <a:srgbClr val="CCDDEE"/>
                </a:solidFill>
              </a:rPr>
              <a:t>dashboard + AI agent — zero metric drift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7500" y="2540000"/>
            <a:ext cx="28575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D700"/>
                </a:solidFill>
              </a:rPr>
              <a:t>🎯  Actionability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17500" y="2794000"/>
            <a:ext cx="2857500" cy="69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DEE"/>
                </a:solidFill>
              </a:rPr>
              <a:t>4 mitigation strategies with cost &amp;</a:t>
            </a:r>
          </a:p>
          <a:p>
            <a:pPr algn="l"/>
            <a:r>
              <a:rPr sz="850" b="0">
                <a:solidFill>
                  <a:srgbClr val="CCDDEE"/>
                </a:solidFill>
              </a:rPr>
              <a:t>protected revenue — ops teams see trade-offs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111500" y="2540000"/>
            <a:ext cx="28575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D700"/>
                </a:solidFill>
              </a:rPr>
              <a:t>🌐  Scalability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111500" y="2794000"/>
            <a:ext cx="2857500" cy="69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DEE"/>
                </a:solidFill>
              </a:rPr>
              <a:t>Pure SQL + Snowflake-native — scales to</a:t>
            </a:r>
          </a:p>
          <a:p>
            <a:pPr algn="l"/>
            <a:r>
              <a:rPr sz="850" b="0">
                <a:solidFill>
                  <a:srgbClr val="CCDDEE"/>
                </a:solidFill>
              </a:rPr>
              <a:t>any org already on Snowflake, zero infra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05500" y="2540000"/>
            <a:ext cx="28575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D700"/>
                </a:solidFill>
              </a:rPr>
              <a:t>🔍  Explainability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905500" y="2794000"/>
            <a:ext cx="2857500" cy="69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DEE"/>
                </a:solidFill>
              </a:rPr>
              <a:t>Every AI answer traceable to a governed</a:t>
            </a:r>
          </a:p>
          <a:p>
            <a:pPr algn="l"/>
            <a:r>
              <a:rPr sz="850" b="0">
                <a:solidFill>
                  <a:srgbClr val="CCDDEE"/>
                </a:solidFill>
              </a:rPr>
              <a:t>view, metric definition &amp; verified query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17500" y="4508500"/>
            <a:ext cx="85090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C5CD"/>
                </a:solidFill>
              </a:rPr>
              <a:t>🔗  Live Demo: https://app.snowflake.com/ysyhgbx/cz11690/#/streamlit-apps/NEXUS_DB.STREAMLIT_APP.NEXUS_APP</a:t>
            </a:r>
          </a:p>
          <a:p>
            <a:pPr algn="l"/>
            <a:r>
              <a:rPr sz="750" b="0">
                <a:solidFill>
                  <a:srgbClr val="00C5CD"/>
                </a:solidFill>
              </a:rPr>
              <a:t>📂  GitHub: https://github.com/Harshahg20/nexus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timer 1 min cowsswedededexeco cli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TextBox 85"/>
          <p:cNvSpPr txBox="1"/>
          <p:nvPr/>
        </p:nvSpPr>
        <p:spPr>
          <a:xfrm>
            <a:off x="317500" y="228600"/>
            <a:ext cx="850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5CD"/>
                </a:solidFill>
              </a:rPr>
              <a:t>04  HOW CoCo CLI BUILT NEXUS  —  Terminal Demo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17500" y="660400"/>
            <a:ext cx="8509000" cy="43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CCDDEE"/>
                </a:solidFill>
              </a:rPr>
              <a:t># 1. Connect CoCo CLI to the NEXUS Snowflake account</a:t>
            </a:r>
          </a:p>
          <a:p>
            <a:pPr algn="l"/>
            <a:r>
              <a:rPr sz="780" b="0">
                <a:solidFill>
                  <a:srgbClr val="CCDDEE"/>
                </a:solidFill>
              </a:rPr>
              <a:t>snow connection add --connection-name nexus \</a:t>
            </a:r>
          </a:p>
          <a:p>
            <a:pPr algn="l"/>
            <a:r>
              <a:rPr sz="780" b="0">
                <a:solidFill>
                  <a:srgbClr val="CCDDEE"/>
                </a:solidFill>
              </a:rPr>
              <a:t>  --account EB70963.ap-northeast-1.aws --user HGHARSHA20 \</a:t>
            </a:r>
          </a:p>
          <a:p>
            <a:pPr algn="l"/>
            <a:r>
              <a:rPr sz="780" b="0">
                <a:solidFill>
                  <a:srgbClr val="CCDDEE"/>
                </a:solidFill>
              </a:rPr>
              <a:t>  --database NEXUS_DB --warehouse COMPUTE_WH</a:t>
            </a:r>
          </a:p>
          <a:p>
            <a:pPr algn="l"/>
            <a:r>
              <a:rPr sz="780" b="0">
                <a:solidFill>
                  <a:srgbClr val="CCDDEE"/>
                </a:solidFill>
              </a:rPr>
              <a:t/>
            </a:r>
          </a:p>
          <a:p>
            <a:pPr algn="l"/>
            <a:r>
              <a:rPr sz="780" b="0">
                <a:solidFill>
                  <a:srgbClr val="CCDDEE"/>
                </a:solidFill>
              </a:rPr>
              <a:t># 2. Generate supply chain schema from natural language</a:t>
            </a:r>
          </a:p>
          <a:p>
            <a:pPr algn="l"/>
            <a:r>
              <a:rPr sz="780" b="0">
                <a:solidFill>
                  <a:srgbClr val="CCDDEE"/>
                </a:solidFill>
              </a:rPr>
              <a:t>snow coco "Design a normalized supply chain schema: Supplier → Part → Plant</a:t>
            </a:r>
          </a:p>
          <a:p>
            <a:pPr algn="l"/>
            <a:r>
              <a:rPr sz="780" b="0">
                <a:solidFill>
                  <a:srgbClr val="CCDDEE"/>
                </a:solidFill>
              </a:rPr>
              <a:t>  → Shipment → Order → Customer with FK constraints and BOM table"</a:t>
            </a:r>
          </a:p>
          <a:p>
            <a:pPr algn="l"/>
            <a:r>
              <a:rPr sz="780" b="0">
                <a:solidFill>
                  <a:srgbClr val="CCDDEE"/>
                </a:solidFill>
              </a:rPr>
              <a:t>  → OUTPUT: snowflake/001_schema.sql  (7 entities, all FK constraints)</a:t>
            </a:r>
          </a:p>
          <a:p>
            <a:pPr algn="l"/>
            <a:r>
              <a:rPr sz="780" b="0">
                <a:solidFill>
                  <a:srgbClr val="CCDDEE"/>
                </a:solidFill>
              </a:rPr>
              <a:t/>
            </a:r>
          </a:p>
          <a:p>
            <a:pPr algn="l"/>
            <a:r>
              <a:rPr sz="780" b="0">
                <a:solidFill>
                  <a:srgbClr val="CCDDEE"/>
                </a:solidFill>
              </a:rPr>
              <a:t># 3. Scaffold the Cortex Agent with semantic view binding</a:t>
            </a:r>
          </a:p>
          <a:p>
            <a:pPr algn="l"/>
            <a:r>
              <a:rPr sz="780" b="0">
                <a:solidFill>
                  <a:srgbClr val="CCDDEE"/>
                </a:solidFill>
              </a:rPr>
              <a:t>snow coco "Scaffold a Snowflake Cortex Agent using DATA_AGENT_RUN that binds</a:t>
            </a:r>
          </a:p>
          <a:p>
            <a:pPr algn="l"/>
            <a:r>
              <a:rPr sz="780" b="0">
                <a:solidFill>
                  <a:srgbClr val="CCDDEE"/>
                </a:solidFill>
              </a:rPr>
              <a:t>  to the NEXUS_SUPPLY_CHAIN semantic view and exposes 4 SQL UDF tools"</a:t>
            </a:r>
          </a:p>
          <a:p>
            <a:pPr algn="l"/>
            <a:r>
              <a:rPr sz="780" b="0">
                <a:solidFill>
                  <a:srgbClr val="CCDDEE"/>
                </a:solidFill>
              </a:rPr>
              <a:t>  → OUTPUT: snowflake/014_nexus_agent.sql  (agent + 4 tools)</a:t>
            </a:r>
          </a:p>
          <a:p>
            <a:pPr algn="l"/>
            <a:r>
              <a:rPr sz="780" b="0">
                <a:solidFill>
                  <a:srgbClr val="CCDDEE"/>
                </a:solidFill>
              </a:rPr>
              <a:t/>
            </a:r>
          </a:p>
          <a:p>
            <a:pPr algn="l"/>
            <a:r>
              <a:rPr sz="780" b="0">
                <a:solidFill>
                  <a:srgbClr val="CCDDEE"/>
                </a:solidFill>
              </a:rPr>
              <a:t># 4. Ask NEXUS a supply chain question via Cortex</a:t>
            </a:r>
          </a:p>
          <a:p>
            <a:pPr algn="l"/>
            <a:r>
              <a:rPr sz="780" b="0">
                <a:solidFill>
                  <a:srgbClr val="CCDDEE"/>
                </a:solidFill>
              </a:rPr>
              <a:t>snow cortex complete \</a:t>
            </a:r>
          </a:p>
          <a:p>
            <a:pPr algn="l"/>
            <a:r>
              <a:rPr sz="780" b="0">
                <a:solidFill>
                  <a:srgbClr val="CCDDEE"/>
                </a:solidFill>
              </a:rPr>
              <a:t>  --query "What is the revenue impact if SUP-001 is unavailable for 14 days?" \</a:t>
            </a:r>
          </a:p>
          <a:p>
            <a:pPr algn="l"/>
            <a:r>
              <a:rPr sz="780" b="0">
                <a:solidFill>
                  <a:srgbClr val="CCDDEE"/>
                </a:solidFill>
              </a:rPr>
              <a:t>  --model snowflake-arctic --connection nexus</a:t>
            </a:r>
          </a:p>
          <a:p>
            <a:pPr algn="l"/>
            <a:r>
              <a:rPr sz="780" b="0">
                <a:solidFill>
                  <a:srgbClr val="CCDDEE"/>
                </a:solidFill>
              </a:rPr>
              <a:t/>
            </a:r>
          </a:p>
          <a:p>
            <a:pPr algn="l"/>
            <a:r>
              <a:rPr sz="780" b="0">
                <a:solidFill>
                  <a:srgbClr val="CCDDEE"/>
                </a:solidFill>
              </a:rPr>
              <a:t># 5. Deploy the Streamlit dashboard natively</a:t>
            </a:r>
          </a:p>
          <a:p>
            <a:pPr algn="l"/>
            <a:r>
              <a:rPr sz="780" b="0">
                <a:solidFill>
                  <a:srgbClr val="CCDDEE"/>
                </a:solidFill>
              </a:rPr>
              <a:t>snow streamlit deploy --connection nexus</a:t>
            </a:r>
          </a:p>
          <a:p>
            <a:pPr algn="l"/>
            <a:r>
              <a:rPr sz="780" b="0">
                <a:solidFill>
                  <a:srgbClr val="CCDDEE"/>
                </a:solidFill>
              </a:rPr>
              <a:t>  → Live at: https://app.snowflake.com/ysyhgbx/cz11690/#/streamlit-apps/NEXUS_DB.STREAMLIT_APP.NEXUS_APP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